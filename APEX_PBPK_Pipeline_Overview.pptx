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457200"/>
            <a:ext cx="5486400" cy="5486400"/>
          </a:xfrm>
          <a:prstGeom prst="ellipse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E90FF"/>
                </a:solidFill>
              </a:rPr>
              <a:t>APEX-PBPK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Automated Physiologically-Based Pharmacokinetic
Parameter Extraction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60520"/>
            <a:ext cx="731520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D4"/>
                </a:solidFill>
              </a:rPr>
              <a:t>Architecture &amp; Design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Gautam | PhD Progress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303520" cy="5029200"/>
          </a:xfrm>
          <a:prstGeom prst="rect">
            <a:avLst/>
          </a:prstGeom>
          <a:solidFill>
            <a:srgbClr val="12263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90FF"/>
                </a:solidFill>
              </a:rPr>
              <a:t>Current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PBPK parameters are trapped in unstructured PDFs, tables &amp; figures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▸  Manual extraction is slow, error-prone and non-reproducible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▸  Each paper uses different nomenclature (e.g. Vlc vs V_liver)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▸  Multi-compound tables create duplicate rows with no context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▸  Individual subject data gets mixed with population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280160"/>
            <a:ext cx="5669280" cy="5029200"/>
          </a:xfrm>
          <a:prstGeom prst="rect">
            <a:avLst/>
          </a:prstGeom>
          <a:solidFill>
            <a:srgbClr val="12263E"/>
          </a:solidFill>
          <a:ln w="19050">
            <a:solidFill>
              <a:srgbClr val="00C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8A"/>
                </a:solidFill>
              </a:rPr>
              <a:t>Our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74519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Fully automated extraction from PBPK paper PDFs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▸  Structured, queryable database with rich metadata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▸  LLM-as-a-judge semantic evaluation against ground truth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▸  Tag each row with compound, cohort, and condition context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▸  Enable reproducible, scalable model building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Pipeline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965960" cy="2377440"/>
          </a:xfrm>
          <a:prstGeom prst="rect">
            <a:avLst/>
          </a:prstGeom>
          <a:solidFill>
            <a:srgbClr val="12263E"/>
          </a:solidFill>
          <a:ln w="19050">
            <a:solidFill>
              <a:srgbClr val="1A6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965960" cy="502920"/>
          </a:xfrm>
          <a:prstGeom prst="rect">
            <a:avLst/>
          </a:prstGeom>
          <a:solidFill>
            <a:srgbClr val="1A6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316736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 · PDF &amp; 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47088"/>
            <a:ext cx="18013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4"/>
                </a:solidFill>
              </a:rPr>
              <a:t>• MinerU / Unlimited-OCR</a:t>
            </a:r>
          </a:p>
          <a:p>
            <a:pPr algn="l"/>
            <a:r>
              <a:rPr sz="1050" b="0">
                <a:solidFill>
                  <a:srgbClr val="B0BED4"/>
                </a:solidFill>
              </a:rPr>
              <a:t>• ColPali vision retrieval</a:t>
            </a:r>
          </a:p>
          <a:p>
            <a:pPr algn="l"/>
            <a:r>
              <a:rPr sz="1050" b="0">
                <a:solidFill>
                  <a:srgbClr val="B0BED4"/>
                </a:solidFill>
              </a:rPr>
              <a:t>• Clean Markdown 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8568" y="2331720"/>
            <a:ext cx="27432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8568" y="226771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90FF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280160"/>
            <a:ext cx="1965960" cy="2377440"/>
          </a:xfrm>
          <a:prstGeom prst="rect">
            <a:avLst/>
          </a:prstGeom>
          <a:solidFill>
            <a:srgbClr val="12263E"/>
          </a:solidFill>
          <a:ln w="19050">
            <a:solidFill>
              <a:srgbClr val="5B2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0" y="1280160"/>
            <a:ext cx="1965960" cy="502920"/>
          </a:xfrm>
          <a:prstGeom prst="rect">
            <a:avLst/>
          </a:prstGeom>
          <a:solidFill>
            <a:srgbClr val="5B2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316736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 · Table XML
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1847088"/>
            <a:ext cx="18013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4"/>
                </a:solidFill>
              </a:rPr>
              <a:t>• XML table elements</a:t>
            </a:r>
          </a:p>
          <a:p>
            <a:pPr algn="l"/>
            <a:r>
              <a:rPr sz="1050" b="0">
                <a:solidFill>
                  <a:srgbClr val="B0BED4"/>
                </a:solidFill>
              </a:rPr>
              <a:t>• LLM structured JSON</a:t>
            </a:r>
          </a:p>
          <a:p>
            <a:pPr algn="l"/>
            <a:r>
              <a:rPr sz="1050" b="0">
                <a:solidFill>
                  <a:srgbClr val="B0BED4"/>
                </a:solidFill>
              </a:rPr>
              <a:t>• Pydantic schema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4567" y="2331720"/>
            <a:ext cx="27432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7" y="226771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90FF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280160"/>
            <a:ext cx="1965960" cy="2377440"/>
          </a:xfrm>
          <a:prstGeom prst="rect">
            <a:avLst/>
          </a:prstGeom>
          <a:solidFill>
            <a:srgbClr val="12263E"/>
          </a:solidFill>
          <a:ln w="19050">
            <a:solidFill>
              <a:srgbClr val="0E8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46320" y="1280160"/>
            <a:ext cx="1965960" cy="502920"/>
          </a:xfrm>
          <a:prstGeom prst="rect">
            <a:avLst/>
          </a:prstGeom>
          <a:solidFill>
            <a:srgbClr val="0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1316736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 · Page Image
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1847088"/>
            <a:ext cx="18013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4"/>
                </a:solidFill>
              </a:rPr>
              <a:t>• Raw page images</a:t>
            </a:r>
          </a:p>
          <a:p>
            <a:pPr algn="l"/>
            <a:r>
              <a:rPr sz="1050" b="0">
                <a:solidFill>
                  <a:srgbClr val="B0BED4"/>
                </a:solidFill>
              </a:rPr>
              <a:t>• Multimodal LLM</a:t>
            </a:r>
          </a:p>
          <a:p>
            <a:pPr algn="l"/>
            <a:r>
              <a:rPr sz="1050" b="0">
                <a:solidFill>
                  <a:srgbClr val="B0BED4"/>
                </a:solidFill>
              </a:rPr>
              <a:t>• Visual table preservation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0567" y="2331720"/>
            <a:ext cx="27432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0567" y="226771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90FF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280160"/>
            <a:ext cx="1965960" cy="2377440"/>
          </a:xfrm>
          <a:prstGeom prst="rect">
            <a:avLst/>
          </a:prstGeom>
          <a:solidFill>
            <a:srgbClr val="12263E"/>
          </a:solidFill>
          <a:ln w="19050">
            <a:solidFill>
              <a:srgbClr val="B8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0" y="1280160"/>
            <a:ext cx="1965960" cy="502920"/>
          </a:xfrm>
          <a:prstGeom prst="rect">
            <a:avLst/>
          </a:prstGeom>
          <a:solidFill>
            <a:srgbClr val="B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5472" y="1316736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 · Prose Text
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1847088"/>
            <a:ext cx="18013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4"/>
                </a:solidFill>
              </a:rPr>
              <a:t>• Body text chunks</a:t>
            </a:r>
          </a:p>
          <a:p>
            <a:pPr algn="l"/>
            <a:r>
              <a:rPr sz="1050" b="0">
                <a:solidFill>
                  <a:srgbClr val="B0BED4"/>
                </a:solidFill>
              </a:rPr>
              <a:t>• Inline parameter extraction</a:t>
            </a:r>
          </a:p>
          <a:p>
            <a:pPr algn="l"/>
            <a:r>
              <a:rPr sz="1050" b="0">
                <a:solidFill>
                  <a:srgbClr val="B0BED4"/>
                </a:solidFill>
              </a:rPr>
              <a:t>• Prose parameter mentions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16567" y="2331720"/>
            <a:ext cx="27432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16567" y="226771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90FF"/>
                </a:solidFill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1280160"/>
            <a:ext cx="1965960" cy="2377440"/>
          </a:xfrm>
          <a:prstGeom prst="rect">
            <a:avLst/>
          </a:prstGeom>
          <a:solidFill>
            <a:srgbClr val="12263E"/>
          </a:solidFill>
          <a:ln w="19050">
            <a:solidFill>
              <a:srgbClr val="00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20" y="1280160"/>
            <a:ext cx="1965960" cy="502920"/>
          </a:xfrm>
          <a:prstGeom prst="rect">
            <a:avLst/>
          </a:prstGeom>
          <a:solidFill>
            <a:srgbClr val="00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1316736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 · DB &amp;
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1847088"/>
            <a:ext cx="18013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4"/>
                </a:solidFill>
              </a:rPr>
              <a:t>• Supabase storage</a:t>
            </a:r>
          </a:p>
          <a:p>
            <a:pPr algn="l"/>
            <a:r>
              <a:rPr sz="1050" b="0">
                <a:solidFill>
                  <a:srgbClr val="B0BED4"/>
                </a:solidFill>
              </a:rPr>
              <a:t>• compound + cohort tags</a:t>
            </a:r>
          </a:p>
          <a:p>
            <a:pPr algn="l"/>
            <a:r>
              <a:rPr sz="1050" b="0">
                <a:solidFill>
                  <a:srgbClr val="B0BED4"/>
                </a:solidFill>
              </a:rPr>
              <a:t>• LLM-as-a-judge scoring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3886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D4"/>
                </a:solidFill>
              </a:rPr>
              <a:t>All passes are de-duplicated via the harmonizer before storage.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434840"/>
            <a:ext cx="12188952" cy="2286000"/>
          </a:xfrm>
          <a:prstGeom prst="rect">
            <a:avLst/>
          </a:prstGeom>
          <a:solidFill>
            <a:srgbClr val="0A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553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90FF"/>
                </a:solidFill>
              </a:rPr>
              <a:t>Key Database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8A"/>
                </a:solidFill>
              </a:rPr>
              <a:t>compound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79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Identifies the specific analyte (e.g. BPA vs BPS)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8A"/>
                </a:solidFill>
              </a:rPr>
              <a:t>cohort_or_condition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Distinguishes sub-populations, time-points, or conditions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8A"/>
                </a:solidFill>
              </a:rPr>
              <a:t>source_pass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79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Tracks which extraction pass produced each row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8A"/>
                </a:solidFill>
              </a:rPr>
              <a:t>canonical_name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Ontology-mapped standardised parameter name (PBPKO)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Evaluation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394960" cy="4114800"/>
          </a:xfrm>
          <a:prstGeom prst="rect">
            <a:avLst/>
          </a:prstGeom>
          <a:solidFill>
            <a:srgbClr val="12263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90FF"/>
                </a:solidFill>
              </a:rPr>
              <a:t>🤖  LLM-as-a-Judge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Ground truth: Antimony .ant model variable names (e.g. VmaxLMet1c)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▸  Extracted names mapped to ground truth by a local LLM judge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▸  JSON output: ground truth var → extracted parameter name (or null)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▸  Recall = fraction of ground truth params found by the pipeline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▸  Handles abstract math vars: VLc → V_liver, PL → partition coeff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▸  Non-deterministic but biologically-aware — far better than regex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486400" cy="4114800"/>
          </a:xfrm>
          <a:prstGeom prst="rect">
            <a:avLst/>
          </a:prstGeom>
          <a:solidFill>
            <a:srgbClr val="12263E"/>
          </a:solidFill>
          <a:ln w="19050">
            <a:solidFill>
              <a:srgbClr val="00C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A"/>
                </a:solidFill>
              </a:rPr>
              <a:t>🎯 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Run full batch on all 12 Bisphenol papers → compute aggregate recall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▸  Fine-tune extraction prompts for dermal PBPK parameters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▸  Integrate Supabase with updated compound + cohort_or_condition schema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▸  Build automatic PBPK model generator from extracted DB rows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▸  Compare ColPali (vision) vs. text-only extraction accuracy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▸  Submit pipeline as an open-source tool for the PBPK community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04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E90FF"/>
                </a:solidFill>
              </a:rPr>
              <a:t>APEX-PBPK  ·  Bridging Scientific Literature and Executable PBPK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